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0" y="9144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India Hackathon 2026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ID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SIH26120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24231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Title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Digital Twin for Well-to-Surface Optimization of CSS and SRP Operations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Clean &amp; Green Technology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3611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Category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Software · IoT + AI/ML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ID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[Enter Your Team ID]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4800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[Enter Your Team Name]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India Hackathon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8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PROPOSED SOLUTION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@SIH Idea submission-Template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914400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[Enter Your Team Name]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5303520" cy="4846320"/>
          </a:xfrm>
          <a:prstGeom prst="roundRect">
            <a:avLst>
              <a:gd name="adj" fmla="val 18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4173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&amp; CHALLENGES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493776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Blind Subsurface Operations: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Zero real-time visibility into deepwater wellhead dynamics, downhole PDC drill torque, and multi-phase flow lines.
</a:t>
            </a:r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Costly Unscheduled Downtime: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Reactive maintenance leads to catastrophic pump failures, stuck pipe incidents, and ₹25L+ losses per event.
</a:t>
            </a:r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Undetected Water/Gas Breakthroughs: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Emulsion surges and hydrate plugs choke subsea flowlines without early warning or ASTM D1250 net oil purification.
</a:t>
            </a:r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Fragmented Industrial Data: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Telemetry is siloed across SCADA systems with no 3D spatial twin or automated midnight settlement compliance.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280160"/>
            <a:ext cx="5577840" cy="4846320"/>
          </a:xfrm>
          <a:prstGeom prst="roundRect">
            <a:avLst>
              <a:gd name="adj" fmla="val 1887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141732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SOLUTION (VARUNA-AI)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217920" y="1828800"/>
            <a:ext cx="521208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50.0 Hz Physics-Informed Cyber-Twin: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Real-time subsea-to-topside 3D visualization in WebGL/Three.js with 20ms ultra-fast sensor ingestion.
</a:t>
            </a:r>
            <a:pPr indent="0" marL="0">
              <a:buNone/>
            </a:pPr>
            <a:r>
              <a:rPr lang="en-US" sz="11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Edge 1D Kalman Denoising: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Filters raw pressure, temperature, and Coriolis vibration noise for crystal-clear anomaly detection.
</a:t>
            </a:r>
            <a:pPr indent="0" marL="0">
              <a:buNone/>
            </a:pPr>
            <a:r>
              <a:rPr lang="en-US" sz="11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Automated ASTM D1250 Net Oil Reconciliation: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Continuously calculates Gross Extracted vs Net Dry Purified Oil, BS&amp;W water-cut %, and associated gas.
</a:t>
            </a:r>
            <a:pPr indent="0" marL="0">
              <a:buNone/>
            </a:pPr>
            <a:r>
              <a:rPr lang="en-US" sz="11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180-Day Database &amp; Midnight Settlement: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Local high-speed database with sub-millisecond binary search and automated 12:00 Midnight DGH regulatory audits.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India Hackathon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8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TECHNICAL APPROACH &amp; ARCHITECTURE WORKFLOW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@SIH Idea submission-Template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914400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[Enter Your Team Name]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2066544" cy="2514600"/>
          </a:xfrm>
          <a:prstGeom prst="roundRect">
            <a:avLst>
              <a:gd name="adj" fmla="val 3540"/>
            </a:avLst>
          </a:prstGeom>
          <a:solidFill>
            <a:srgbClr val="EFF6FF"/>
          </a:solidFill>
          <a:ln w="19050">
            <a:solidFill>
              <a:srgbClr val="BFDBF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325880"/>
            <a:ext cx="594360" cy="22860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25880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01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280160" y="1344168"/>
            <a:ext cx="1243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ACQUISITION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40080" y="1581912"/>
            <a:ext cx="18836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SENSORS &amp; SCADA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1984248"/>
            <a:ext cx="1883664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Subsea X-Mas Tree Gauges (P, T)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PDC Drill Core (WOB, Torque)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Topside MPFM Coriolis Meters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50.0 Hz (20ms) Telemetry Stream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94360" y="3401568"/>
            <a:ext cx="1975104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340156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Modbus / OPC-UA / WITSML 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816352" y="1234440"/>
            <a:ext cx="2066544" cy="2514600"/>
          </a:xfrm>
          <a:prstGeom prst="roundRect">
            <a:avLst>
              <a:gd name="adj" fmla="val 3540"/>
            </a:avLst>
          </a:prstGeom>
          <a:solidFill>
            <a:srgbClr val="F0FDF4"/>
          </a:solidFill>
          <a:ln w="19050">
            <a:solidFill>
              <a:srgbClr val="BBF7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07792" y="1325880"/>
            <a:ext cx="594360" cy="22860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/>
        </p:spPr>
      </p:sp>
      <p:sp>
        <p:nvSpPr>
          <p:cNvPr id="16" name="Text 14"/>
          <p:cNvSpPr/>
          <p:nvPr/>
        </p:nvSpPr>
        <p:spPr>
          <a:xfrm>
            <a:off x="2907792" y="1325880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02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547872" y="1344168"/>
            <a:ext cx="1243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 CONDITIONING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2907792" y="1581912"/>
            <a:ext cx="18836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DENOISING &amp; INGESTION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907792" y="1984248"/>
            <a:ext cx="1883664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1D Kalman Noise Filtering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Recursive Bayesian Estimator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Multi-Rate Synchronizer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180-Day Time-Series Ledger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862072" y="3401568"/>
            <a:ext cx="1975104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62072" y="340156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Filtered State Stream ➔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5084064" y="1234440"/>
            <a:ext cx="2066544" cy="2514600"/>
          </a:xfrm>
          <a:prstGeom prst="roundRect">
            <a:avLst>
              <a:gd name="adj" fmla="val 3540"/>
            </a:avLst>
          </a:prstGeom>
          <a:solidFill>
            <a:srgbClr val="FFFBEB"/>
          </a:solidFill>
          <a:ln w="19050">
            <a:solidFill>
              <a:srgbClr val="FDE68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75504" y="1325880"/>
            <a:ext cx="594360" cy="22860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/>
        </p:spPr>
      </p:sp>
      <p:sp>
        <p:nvSpPr>
          <p:cNvPr id="24" name="Text 22"/>
          <p:cNvSpPr/>
          <p:nvPr/>
        </p:nvSpPr>
        <p:spPr>
          <a:xfrm>
            <a:off x="5175504" y="1325880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03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5815584" y="1344168"/>
            <a:ext cx="1243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ANALYTICAL PROCESSING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5175504" y="1581912"/>
            <a:ext cx="18836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PHYSICS &amp; AI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175504" y="1984248"/>
            <a:ext cx="1883664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Darcy-Weisbach Hydraulics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ASTM D1250 Net Oil Solver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BS&amp;W Water-Cut Deconvolution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XGBoost Stick-Slip Detector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129784" y="3401568"/>
            <a:ext cx="1975104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29784" y="340156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Physics Solutes &amp; Vectors ➔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7351776" y="1234440"/>
            <a:ext cx="2066544" cy="2514600"/>
          </a:xfrm>
          <a:prstGeom prst="roundRect">
            <a:avLst>
              <a:gd name="adj" fmla="val 3540"/>
            </a:avLst>
          </a:prstGeom>
          <a:solidFill>
            <a:srgbClr val="FAF5FF"/>
          </a:solidFill>
          <a:ln w="19050">
            <a:solidFill>
              <a:srgbClr val="E9D5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1325880"/>
            <a:ext cx="594360" cy="228600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/>
        </p:spPr>
      </p:sp>
      <p:sp>
        <p:nvSpPr>
          <p:cNvPr id="32" name="Text 30"/>
          <p:cNvSpPr/>
          <p:nvPr/>
        </p:nvSpPr>
        <p:spPr>
          <a:xfrm>
            <a:off x="7443216" y="1325880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04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8083296" y="1344168"/>
            <a:ext cx="1243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VISUALIZATION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7443216" y="1581912"/>
            <a:ext cx="18836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C1D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SPATIAL TWIN &amp; HCI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443216" y="1984248"/>
            <a:ext cx="1883664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Three.js / WebGL 3D Platform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360° Orbit &amp; Explode View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Subsea Riser &amp; Flow Vectors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MediaPipe Hands &amp; Voice Copilot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7397496" y="3401568"/>
            <a:ext cx="1975104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97496" y="340156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C1D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Supervisory Dispatch ➔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9619488" y="1234440"/>
            <a:ext cx="2066544" cy="2514600"/>
          </a:xfrm>
          <a:prstGeom prst="roundRect">
            <a:avLst>
              <a:gd name="adj" fmla="val 3540"/>
            </a:avLst>
          </a:prstGeom>
          <a:solidFill>
            <a:srgbClr val="FDF2F8"/>
          </a:solidFill>
          <a:ln w="19050">
            <a:solidFill>
              <a:srgbClr val="FBCFE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710928" y="1325880"/>
            <a:ext cx="594360" cy="228600"/>
          </a:xfrm>
          <a:prstGeom prst="roundRect">
            <a:avLst>
              <a:gd name="adj" fmla="val 20000"/>
            </a:avLst>
          </a:prstGeom>
          <a:solidFill>
            <a:srgbClr val="DB2777"/>
          </a:solidFill>
          <a:ln/>
        </p:spPr>
      </p:sp>
      <p:sp>
        <p:nvSpPr>
          <p:cNvPr id="40" name="Text 38"/>
          <p:cNvSpPr/>
          <p:nvPr/>
        </p:nvSpPr>
        <p:spPr>
          <a:xfrm>
            <a:off x="9710928" y="1325880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05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10351008" y="1344168"/>
            <a:ext cx="1243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&amp; ACTION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9710928" y="1581912"/>
            <a:ext cx="18836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31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MIDNIGHT SETTLEMENT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9710928" y="1984248"/>
            <a:ext cx="1883664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Automated 12:00 AM EOD Audit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Gross vs Net Barrels Accounting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DGH Regulatory Compliance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Closed-Loop Throttle Interlock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9665208" y="3401568"/>
            <a:ext cx="1975104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BCF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65208" y="340156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31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Closed-Loop Actuation ✔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48640" y="3886200"/>
            <a:ext cx="5852160" cy="2240280"/>
          </a:xfrm>
          <a:prstGeom prst="roundRect">
            <a:avLst>
              <a:gd name="adj" fmla="val 326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1520" y="397764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TECHNOLOGY STACK &amp; PROTOCOL CONNECTIONS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731520" y="4233672"/>
            <a:ext cx="54864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Edge SCADA Protocols: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OPC-UA, Modbus RTU/TCP, WITSML, Serial USB WebGateway (50Hz / 20ms).
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Physics &amp; Standards: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ASTM D1250 / API MPMS 11.1 (CTL/CPL), Darcy-Weisbach multiphase pressure gradients.
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 &amp; Estimators: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1D Kalman state estimators, XGBoost stick-slip anomaly classifiers.
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3D Spatial Interface: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Three.js / WebGL with 360° orbit, explode view, MediaPipe hands &amp; Jarvis voice.
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Storage &amp; Settlement: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180-day local time-series ledger with automated 12:00 Midnight DGH regulatory audit.</a:t>
            </a:r>
            <a:endParaRPr lang="en-US" sz="900" dirty="0"/>
          </a:p>
        </p:txBody>
      </p:sp>
      <p:pic>
        <p:nvPicPr>
          <p:cNvPr id="49" name="Image 0" descr="E:\Digital Twin\public\presentation\rig_diorama_colored_17891472505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3886200"/>
            <a:ext cx="2468880" cy="2240280"/>
          </a:xfrm>
          <a:prstGeom prst="rect">
            <a:avLst/>
          </a:prstGeom>
        </p:spPr>
      </p:pic>
      <p:pic>
        <p:nvPicPr>
          <p:cNvPr id="50" name="Image 1" descr="E:\Digital Twin\public\presentation\hologram_digital_twin_178914860978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3886200"/>
            <a:ext cx="246888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India Hackathon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8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FEASIBILITY AND VIABILITY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@SIH Idea submission-Template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914400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[Enter Your Team Name]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58521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Analysis of the feasibility of the idea: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Proven Industrial Standards: Works directly with standard Modbus RTU, OPC-UA, and AVEVA PI historians.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Low Latency Execution: Sub-millisecond binary search (&lt;0.1ms) enables seamless real-time analytics without cloud latency.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Zero Server Overhead: Self-contained WebGL client runs in any modern browser with local laptop database fallback.
</a:t>
            </a:r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Potential challenges and risks: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Severe deepwater sensor noise and intermittent connectivity at -2,040m seabed.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High computational burden of coupled thermodynamic reservoir simulations.
</a:t>
            </a:r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Strategies for overcoming these challenges: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- 1D Kalman Edge Filter: Suppresses transient bubble glitches and pressure noise locally.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Surrogate Edge AI: XGBoost classifiers act as fast surrogates while heavy physics calibrates asynchronously.</a:t>
            </a:r>
            <a:endParaRPr lang="en-US" sz="1250" dirty="0"/>
          </a:p>
        </p:txBody>
      </p:sp>
      <p:pic>
        <p:nvPicPr>
          <p:cNvPr id="7" name="Image 0" descr="E:\Digital Twin\public\presentation\drill_static_casing_spinning_core_17891494016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371600"/>
            <a:ext cx="5029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India Hackathon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8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IMPACT AND BENEFITS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@SIH Idea submission-Template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914400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[Enter Your Team Name]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5394960" cy="4846320"/>
          </a:xfrm>
          <a:prstGeom prst="roundRect">
            <a:avLst>
              <a:gd name="adj" fmla="val 18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4173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impact on the target audience (OIL &amp; ONGC):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31520" y="1874520"/>
            <a:ext cx="50292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Deepwater Subsea Optimization:
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Unlocks actionable visibility into deepwater manifolds, enabling higher extraction rates from ultra-deep offshore blocks.
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Predictive Health &amp; Asset Life:
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Maximizes lifespan of drill strings, subsea risers, and topside separators by preventing fatigue and over-torque.
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Shift to Autonomous Supervision:
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Transforms control room operations from reactive fire-fighting to autonomous AI-driven supervisory guidance.
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Environmental Safety (Zero Spills):
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Early pipe blockage and rupture detection prevents catastrophic environmental contamination.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26480" y="1280160"/>
            <a:ext cx="5486400" cy="4846320"/>
          </a:xfrm>
          <a:prstGeom prst="roundRect">
            <a:avLst>
              <a:gd name="adj" fmla="val 1887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417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 of the solution (Economic &amp; Operational):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309360" y="1874520"/>
            <a:ext cx="512064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Cost Recovery: 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₹25+ Lakhs saved per incident through proactive anomaly detection and automated pump speed throttling.
</a:t>
            </a:r>
            <a:pPr indent="0" marL="0">
              <a:buNone/>
            </a:pPr>
            <a:r>
              <a:rPr lang="en-US" sz="11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35% Downtime Reduction: 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12:00 Midnight reconciliation and instant incident dispatch reduce mean time to resolution.
</a:t>
            </a:r>
            <a:pPr indent="0" marL="0">
              <a:buNone/>
            </a:pPr>
            <a:r>
              <a:rPr lang="en-US" sz="11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40% Lifting Cost Reduction: 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 multiphase fluid balance and ASTM D1250 purification minimize energy and demulsifier waste.
</a:t>
            </a:r>
            <a:pPr indent="0" marL="0">
              <a:buNone/>
            </a:pPr>
            <a:r>
              <a:rPr lang="en-US" sz="11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100% Regulatory Compliance: 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DGH / ISO 14001 daily ledger with cryptographic audit hash verification.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India Hackathon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8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RESEARCH AND REFERENCES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@SIH Idea submission-Template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914400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[Enter Your Team Name]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 / Links of the reference and research work: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62179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ASTM D1250 &amp; API MPMS Chapter 11.1 Standards: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Standardized equations for temperature &amp; pressure volume correction factors (CTL/CPL) for crude oils.
</a:t>
            </a:r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Coriolis Resonance &amp; Darcy-Weisbach Multiphase Mechanics: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Mathematical formulation for tube frequency inversion and subsea pipeline friction factor calculations.
</a:t>
            </a:r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1D Kalman Filtering for Industrial SCADA Denoising: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Discrete recursive Bayesian state estimation for high-frequency telemetry streams.
</a:t>
            </a:r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WebGL &amp; Three.js for 3D Cyber-Physical Spatial Computing: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High-performance GPU-accelerated rendering of complex offshore assemblies with real-time gesture interaction.
</a:t>
            </a:r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DGH (Directorate General of Hydrocarbons) Offshore Reporting Guidelines:
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Indian statutory standards for certified daily hydrocarbon reconciliation and environmental auditing.</a:t>
            </a:r>
            <a:endParaRPr lang="en-US" sz="1150" dirty="0"/>
          </a:p>
        </p:txBody>
      </p:sp>
      <p:pic>
        <p:nvPicPr>
          <p:cNvPr id="8" name="Image 0" descr="E:\Digital Twin\public\presentation\subsea_pipes_glowing_arrows_17891497584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691640"/>
            <a:ext cx="4663440" cy="4297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Smart India Hackathon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Twin for Well-to-Surface Optimization of Offshore Oil &amp; Gas Operations</dc:title>
  <dc:subject>PptxGenJS Presentation</dc:subject>
  <dc:creator>VARUNA-AI Team</dc:creator>
  <cp:lastModifiedBy>VARUNA-AI Team</cp:lastModifiedBy>
  <cp:revision>1</cp:revision>
  <dcterms:created xsi:type="dcterms:W3CDTF">2026-09-19T05:14:09Z</dcterms:created>
  <dcterms:modified xsi:type="dcterms:W3CDTF">2026-09-19T05:14:09Z</dcterms:modified>
</cp:coreProperties>
</file>