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914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SIH26120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2423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Digital Twin for Well-to-Surface Optimization of CSS and SRP Operations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Clean &amp; Green Technology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Software · IoT + AI/ML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[Enter Your Team ID]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800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[Enter Your Team Name]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PROPOSED SOLUTION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@SIH Idea submission-Template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[Enter Your Team Name]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5303520" cy="4846320"/>
          </a:xfrm>
          <a:prstGeom prst="roundRect">
            <a:avLst>
              <a:gd name="adj" fmla="val 18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173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&amp; CHALLENGES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49377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Blind Subsurface Operations: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Zero real-time visibility into deepwater wellhead dynamics, downhole PDC drill torque, and multi-phase flow lines.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Costly Unscheduled Downtime: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Reactive maintenance leads to catastrophic pump failures, stuck pipe incidents, and ₹25L+ losses per event.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Undetected Water/Gas Breakthroughs: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Emulsion surges and hydrate plugs choke subsea flowlines without early warning or ASTM D1250 net oil purification.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Fragmented Industrial Data: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Telemetry is siloed across SCADA systems with no 3D spatial twin or automated midnight settlement compliance.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5577840" cy="4846320"/>
          </a:xfrm>
          <a:prstGeom prst="roundRect">
            <a:avLst>
              <a:gd name="adj" fmla="val 188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4173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 (VARUNA-AI)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50.0 Hz Physics-Informed Cyber-Twin: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Real-time subsea-to-topside 3D visualization in WebGL/Three.js with 20ms ultra-fast sensor ingestion.
</a:t>
            </a:r>
            <a:pPr indent="0" marL="0">
              <a:buNone/>
            </a:pPr>
            <a:r>
              <a:rPr lang="en-US" sz="11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Edge 1D Kalman Denoising: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Filters raw pressure, temperature, and Coriolis vibration noise for crystal-clear anomaly detection.
</a:t>
            </a:r>
            <a:pPr indent="0" marL="0">
              <a:buNone/>
            </a:pPr>
            <a:r>
              <a:rPr lang="en-US" sz="11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ASTM D1250 Net Oil Reconciliation: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Continuously calculates Gross Extracted vs Net Dry Purified Oil, BS&amp;W water-cut %, and associated gas.
</a:t>
            </a:r>
            <a:pPr indent="0" marL="0">
              <a:buNone/>
            </a:pPr>
            <a:r>
              <a:rPr lang="en-US" sz="11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180-Day Database &amp; Midnight Settlement: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Local high-speed database with sub-millisecond binary search and automated 12:00 Midnight DGH regulatory audits.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TECHNICAL APPROACH: SYSTEM WORKFLOW &amp; ARCHITECTURE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@SIH Idea submission-Template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[Enter Your Team Name]</a:t>
            </a:r>
            <a:endParaRPr lang="en-US" sz="900" dirty="0"/>
          </a:p>
        </p:txBody>
      </p:sp>
      <p:pic>
        <p:nvPicPr>
          <p:cNvPr id="6" name="Image 0" descr="E:\Digital Twin\public\presentation\workflow_diagram_stenc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1672" cy="3246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26280"/>
            <a:ext cx="749808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4599432"/>
            <a:ext cx="7132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TECHNOLOGY STACK &amp; COMMUNICATION PROTOCOLS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31520" y="4818888"/>
            <a:ext cx="7132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Stage 1 (Edge SCADA):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Modbus RTU/TCP, OPC-UA, WITSML, Serial USB WebGateway (50Hz / 20ms).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Stage 2 (Denoising):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1D Kalman recursive state estimator + 180-day local buffer ledger (&lt;0.1ms query).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Stage 3 (Physics &amp; AI):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Darcy-Weisbach multiphase hydraulics, ASTM D1250 / API MPMS 11.1 net oil solver, XGBoost AI.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Stage 4 &amp; 5 (Twin &amp; Audit):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Three.js WebGL 3D spatial twin with gestures/voice + automated 12:00 Midnight DGH audit ledger.</a:t>
            </a:r>
            <a:endParaRPr lang="en-US" sz="850" dirty="0"/>
          </a:p>
        </p:txBody>
      </p:sp>
      <p:pic>
        <p:nvPicPr>
          <p:cNvPr id="10" name="Image 1" descr="E:\Digital Twin\public\presentation\rig_diorama_colored_17891472505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526280"/>
            <a:ext cx="1645920" cy="1691640"/>
          </a:xfrm>
          <a:prstGeom prst="rect">
            <a:avLst/>
          </a:prstGeom>
        </p:spPr>
      </p:pic>
      <p:pic>
        <p:nvPicPr>
          <p:cNvPr id="11" name="Image 2" descr="E:\Digital Twin\public\presentation\hologram_digital_twin_178914860978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2" y="4526280"/>
            <a:ext cx="164592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FEASIBILITY AND VIABILITY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@SIH Idea submission-Template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[Enter Your Team Name]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58521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Analysis of the feasibility of the idea: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Proven Industrial Standards: Works directly with standard Modbus RTU, OPC-UA, and AVEVA PI historians.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Low Latency Execution: Sub-millisecond binary search (&lt;0.1ms) enables seamless real-time analytics without cloud latency.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Zero Server Overhead: Self-contained WebGL client runs in any modern browser with local laptop database fallback.
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Potential challenges and risks: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Severe deepwater sensor noise and intermittent connectivity at -2,040m seabed.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High computational burden of coupled thermodynamic reservoir simulations.
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Strategies for overcoming these challenges: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- 1D Kalman Edge Filter: Suppresses transient bubble glitches and pressure noise locally.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Surrogate Edge AI: XGBoost classifiers act as fast surrogates while heavy physics calibrates asynchronously.</a:t>
            </a:r>
            <a:endParaRPr lang="en-US" sz="1250" dirty="0"/>
          </a:p>
        </p:txBody>
      </p:sp>
      <p:pic>
        <p:nvPicPr>
          <p:cNvPr id="7" name="Image 0" descr="E:\Digital Twin\public\presentation\drill_static_casing_spinning_core_17891494016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71600"/>
            <a:ext cx="5029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IMPACT AND BENEFITS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@SIH Idea submission-Template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[Enter Your Team Name]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5394960" cy="4846320"/>
          </a:xfrm>
          <a:prstGeom prst="roundRect">
            <a:avLst>
              <a:gd name="adj" fmla="val 18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17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impact on the target audience (OIL &amp; ONGC):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50292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Deepwater Subsea Optimization:
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Unlocks actionable visibility into deepwater manifolds, enabling higher extraction rates from ultra-deep offshore blocks.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Predictive Health &amp; Asset Life:
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Maximizes lifespan of drill strings, subsea risers, and topside separators by preventing fatigue and over-torque.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Shift to Autonomous Supervision:
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Transforms control room operations from reactive fire-fighting to autonomous AI-driven supervisory guidance.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Environmental Safety (Zero Spills):
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Early pipe blockage and rupture detection prevents catastrophic environmental contamination.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28016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417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of the solution (Economic &amp; Operational):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309360" y="1874520"/>
            <a:ext cx="51206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Cost Recovery: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₹25+ Lakhs saved per incident through proactive anomaly detection and automated pump speed throttling.
</a:t>
            </a:r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35% Downtime Reduction: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12:00 Midnight reconciliation and instant incident dispatch reduce mean time to resolution.
</a:t>
            </a:r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 Lifting Cost Reduction: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multiphase fluid balance and ASTM D1250 purification minimize energy and demulsifier waste.
</a:t>
            </a:r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Regulatory Compliance: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DGH / ISO 14001 daily ledger with cryptographic audit hash verification.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AND REFERENCES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@SIH Idea submission-Template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[Enter Your Team Name]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 / Links of the reference and research work: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62179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ASTM D1250 &amp; API MPMS Chapter 11.1 Standards: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Standardized equations for temperature &amp; pressure volume correction factors (CTL/CPL) for crude oils.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Coriolis Resonance &amp; Darcy-Weisbach Multiphase Mechanics: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Mathematical formulation for tube frequency inversion and subsea pipeline friction factor calculations.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1D Kalman Filtering for Industrial SCADA Denoising: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Discrete recursive Bayesian state estimation for high-frequency telemetry streams.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WebGL &amp; Three.js for 3D Cyber-Physical Spatial Computing: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High-performance GPU-accelerated rendering of complex offshore assemblies with real-time gesture interaction.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DGH (Directorate General of Hydrocarbons) Offshore Reporting Guidelines: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Indian statutory standards for certified daily hydrocarbon reconciliation and environmental auditing.</a:t>
            </a:r>
            <a:endParaRPr lang="en-US" sz="1150" dirty="0"/>
          </a:p>
        </p:txBody>
      </p:sp>
      <p:pic>
        <p:nvPicPr>
          <p:cNvPr id="8" name="Image 0" descr="E:\Digital Twin\public\presentation\subsea_pipes_glowing_arrows_17891497584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691640"/>
            <a:ext cx="4663440" cy="4297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Smart India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Twin for Well-to-Surface Optimization of Offshore Oil &amp; Gas Operations</dc:title>
  <dc:subject>PptxGenJS Presentation</dc:subject>
  <dc:creator>VARUNA-AI Team</dc:creator>
  <cp:lastModifiedBy>VARUNA-AI Team</cp:lastModifiedBy>
  <cp:revision>1</cp:revision>
  <dcterms:created xsi:type="dcterms:W3CDTF">2026-09-19T05:24:18Z</dcterms:created>
  <dcterms:modified xsi:type="dcterms:W3CDTF">2026-09-19T05:24:18Z</dcterms:modified>
</cp:coreProperties>
</file>