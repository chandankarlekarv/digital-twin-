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889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6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4000" b="1">
                <a:latin typeface="Garamond"/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7726" y="1919814"/>
            <a:ext cx="5924550" cy="383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900" b="1">
                <a:latin typeface="Arial"/>
              </a:defRPr>
            </a:pPr>
            <a:r>
              <a:rPr dirty="0"/>
              <a:t>Problem Statement ID – SIH26120</a:t>
            </a:r>
            <a:endParaRPr lang="en-IN" dirty="0"/>
          </a:p>
          <a:p>
            <a:pPr>
              <a:spcAft>
                <a:spcPts val="800"/>
              </a:spcAft>
              <a:defRPr sz="1900" b="1">
                <a:latin typeface="Arial"/>
              </a:defRPr>
            </a:pPr>
            <a:endParaRPr lang="en-US" dirty="0"/>
          </a:p>
          <a:p>
            <a:pPr>
              <a:spcAft>
                <a:spcPts val="800"/>
              </a:spcAft>
              <a:defRPr sz="1900" b="0">
                <a:latin typeface="Arial"/>
              </a:defRPr>
            </a:pPr>
            <a:r>
              <a:rPr b="1" i="1" u="sng" dirty="0"/>
              <a:t>Problem Statement Title </a:t>
            </a:r>
            <a:r>
              <a:rPr dirty="0"/>
              <a:t>– Digital Twin for Well-to-Surface Optimization of CSS and SRP Operations</a:t>
            </a:r>
            <a:endParaRPr lang="en-IN" dirty="0"/>
          </a:p>
          <a:p>
            <a:pPr>
              <a:spcAft>
                <a:spcPts val="800"/>
              </a:spcAft>
              <a:defRPr sz="1900" b="0">
                <a:latin typeface="Arial"/>
              </a:defRPr>
            </a:pPr>
            <a:endParaRPr dirty="0"/>
          </a:p>
          <a:p>
            <a:pPr>
              <a:spcAft>
                <a:spcPts val="800"/>
              </a:spcAft>
              <a:defRPr sz="1900" b="0">
                <a:latin typeface="Arial"/>
              </a:defRPr>
            </a:pPr>
            <a:r>
              <a:rPr b="1" i="1" u="sng" dirty="0"/>
              <a:t>Theme </a:t>
            </a:r>
            <a:r>
              <a:rPr dirty="0"/>
              <a:t>– </a:t>
            </a:r>
            <a:r>
              <a:rPr lang="en-IN" dirty="0"/>
              <a:t>Smart Automation</a:t>
            </a:r>
          </a:p>
          <a:p>
            <a:pPr>
              <a:spcAft>
                <a:spcPts val="800"/>
              </a:spcAft>
              <a:defRPr sz="1900" b="0">
                <a:latin typeface="Arial"/>
              </a:defRPr>
            </a:pPr>
            <a:endParaRPr dirty="0"/>
          </a:p>
          <a:p>
            <a:pPr>
              <a:spcAft>
                <a:spcPts val="800"/>
              </a:spcAft>
              <a:defRPr sz="1900" b="0">
                <a:latin typeface="Arial"/>
              </a:defRPr>
            </a:pPr>
            <a:r>
              <a:rPr b="1" i="1" u="sng" dirty="0"/>
              <a:t>PS Category </a:t>
            </a:r>
            <a:r>
              <a:rPr dirty="0"/>
              <a:t>– Software</a:t>
            </a:r>
            <a:endParaRPr lang="en-IN" dirty="0"/>
          </a:p>
          <a:p>
            <a:pPr>
              <a:spcAft>
                <a:spcPts val="800"/>
              </a:spcAft>
              <a:defRPr sz="1900" b="0">
                <a:latin typeface="Arial"/>
              </a:defRPr>
            </a:pPr>
            <a:endParaRPr dirty="0"/>
          </a:p>
          <a:p>
            <a:pPr>
              <a:spcAft>
                <a:spcPts val="800"/>
              </a:spcAft>
              <a:defRPr sz="1900" b="0">
                <a:latin typeface="Arial"/>
              </a:defRPr>
            </a:pPr>
            <a:r>
              <a:rPr b="1" i="1" u="sng" dirty="0"/>
              <a:t>Team Name</a:t>
            </a:r>
            <a:r>
              <a:rPr dirty="0"/>
              <a:t> – </a:t>
            </a:r>
            <a:r>
              <a:rPr lang="en-IN" dirty="0" err="1"/>
              <a:t>CosmicRift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@SIH Idea submission-Template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Your Team Name]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CHALLENGES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Blind Subsurface Operations: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Zero real-time visibility into deepwater wellhead dynamics, downhole PDC drill torque, and multi-phase flow lines.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Costly Unscheduled Downtime: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Reactive maintenance leads to catastrophic pump failures, stuck pipe incidents, and ₹25L+ losses per event.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Undetected Water/Gas Breakthroughs: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Emulsion surges and hydrate plugs choke subsea flowlines without early warning or ASTM D1250 net oil purification.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Fragmented Industrial Data: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Telemetry is siloed across SCADA systems with no 3D spatial twin or automated midnight settlement compliance.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5577840" cy="4846320"/>
          </a:xfrm>
          <a:prstGeom prst="roundRect">
            <a:avLst>
              <a:gd name="adj" fmla="val 188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417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(VARUNA-AI)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50.0 Hz Physics-Informed Cyber-Twin: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Real-time subsea-to-topside 3D visualization in WebGL/Three.js with 20ms ultra-fast sensor ingestion.
</a:t>
            </a: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 1D Kalman Denoising: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Filters raw pressure, temperature, and Coriolis vibration noise for crystal-clear anomaly detection.
</a:t>
            </a: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ASTM D1250 Net Oil Reconciliation: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Continuously calculates Gross Extracted vs Net Dry Purified Oil, BS&amp;W water-cut %, and associated gas.
</a:t>
            </a: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180-Day Database &amp; Midnight Settlement: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Local high-speed database with sub-millisecond binary search and automated 12:00 Midnight DGH regulatory audits.</a:t>
            </a:r>
            <a:endParaRPr lang="en-US" sz="11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5E4E3F-FBA7-9794-6BA5-C12B5F3EF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88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16284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APPROACH: SYSTEM WORKFLOW &amp;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@SIH Idea submission-Template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Your Team Name]</a:t>
            </a:r>
            <a:endParaRPr lang="en-US" sz="900" dirty="0"/>
          </a:p>
        </p:txBody>
      </p:sp>
      <p:pic>
        <p:nvPicPr>
          <p:cNvPr id="6" name="Image 0" descr="E:\Digital Twin\public\presentation\workflow_diagram_stenc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64924"/>
            <a:ext cx="11091672" cy="33699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526280"/>
            <a:ext cx="74980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5994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TECHNOLOGY STACK &amp; COMMUNICATION PROTOCOLS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4818888"/>
            <a:ext cx="7132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1 (Edge SCADA): </a:t>
            </a: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RTU/TCP, OPC-UA, WITSML, Serial USB WebGateway (50Hz / 20ms).
</a:t>
            </a: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2 (Denoising): </a:t>
            </a: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1D Kalman recursive state estimator + 180-day local buffer ledger (&lt;0.1ms query).
</a:t>
            </a: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3 (Physics &amp; AI): </a:t>
            </a: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Darcy-Weisbach multiphase hydraulics, ASTM D1250 / API MPMS 11.1 net oil solver, XGBoost AI.
</a:t>
            </a: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4 &amp; 5 (Twin &amp; Audit): </a:t>
            </a: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WebGL 3D spatial twin with gestures/voice + automated 12:00 Midnight DGH audit ledger.</a:t>
            </a:r>
            <a:endParaRPr lang="en-US" sz="850" dirty="0"/>
          </a:p>
        </p:txBody>
      </p:sp>
      <p:pic>
        <p:nvPicPr>
          <p:cNvPr id="10" name="Image 1" descr="E:\Digital Twin\public\presentation\rig_diorama_colored_178914725051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526280"/>
            <a:ext cx="1645920" cy="1691640"/>
          </a:xfrm>
          <a:prstGeom prst="rect">
            <a:avLst/>
          </a:prstGeom>
        </p:spPr>
      </p:pic>
      <p:pic>
        <p:nvPicPr>
          <p:cNvPr id="11" name="Image 2" descr="E:\Digital Twin\public\presentation\hologram_digital_twin_178914860978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2" y="4526280"/>
            <a:ext cx="1645920" cy="16916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929DDB-97CE-CC19-ACC0-A00D8DD584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 AND VIABILITY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@SIH Idea submission-Template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Your Team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Analysis of the feasibility of the idea: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Proven Industrial Standards: Works directly with standard Modbus RTU, OPC-UA, and AVEVA PI historians.
  - Low Latency Execution: Sub-millisecond binary search (&lt;0.1ms) enables seamless real-time analytics without cloud latency.
  - Zero Server Overhead: Self-contained WebGL client runs in any modern browser with local laptop database fallback.
</a:t>
            </a: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Potential challenges and risks: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Severe deepwater sensor noise and intermittent connectivity at -2,040m seabed.
  - High computational burden of coupled thermodynamic reservoir simulations.
</a:t>
            </a: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Strategies for overcoming these challenges: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- 1D Kalman Edge Filter: Suppresses transient bubble glitches and pressure noise locally.
  - Surrogate Edge AI: XGBoost classifiers act as fast surrogates while heavy physics calibrates asynchronously.</a:t>
            </a:r>
            <a:endParaRPr lang="en-US" sz="1250" dirty="0"/>
          </a:p>
        </p:txBody>
      </p:sp>
      <p:pic>
        <p:nvPicPr>
          <p:cNvPr id="7" name="Image 0" descr="E:\Digital Twin\public\presentation\drill_static_casing_spinning_core_17891494016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71600"/>
            <a:ext cx="5029200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3E63DD-7980-B0AF-ACD3-6078EB53D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AND BENEFITS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@SIH Idea submission-Template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Your Team Name]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impact on the target audience (OIL &amp; ONGC):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Deepwater Subsea Optimization:
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Unlocks actionable visibility into deepwater manifolds, enabling higher extraction rates from ultra-deep offshore blocks.
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Health &amp; Asset Life:
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Maximizes lifespan of drill strings, subsea risers, and topside separators by preventing fatigue and over-torque.
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Shift to Autonomous Supervision:
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Transforms control room operations from reactive fire-fighting to autonomous AI-driven supervisory guidance.
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Environmental Safety (Zero Spills):
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Early pipe blockage and rupture detection prevents catastrophic environmental contamination.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the solution (Economic &amp; Operational):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09360" y="187452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Recovery: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₹25+ Lakhs saved per incident through proactive anomaly detection and automated pump speed throttling.
</a:t>
            </a: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35% Downtime Reduction: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12:00 Midnight reconciliation and instant incident dispatch reduce mean time to resolution.
</a:t>
            </a: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40% Lifting Cost Reduction: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multiphase fluid balance and ASTM D1250 purification minimize energy and demulsifier waste.
</a:t>
            </a: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Regulatory Compliance: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DGH / ISO 14001 daily ledger with cryptographic audit hash verification.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8281C3-9C24-CE32-6885-BC6E27A9A0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AND 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@SIH Idea submission-Template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Your Team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/ Links of the reference and research work: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6217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ASTM D1250 &amp; API MPMS Chapter 11.1 Standards: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Standardized equations for temperature &amp; pressure volume correction factors (CTL/CPL) for crude oils.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Coriolis Resonance &amp; Darcy-Weisbach Multiphase Mechanics: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Mathematical formulation for tube frequency inversion and subsea pipeline friction factor calculations.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1D Kalman Filtering for Industrial SCADA Denoising: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Discrete recursive Bayesian state estimation for high-frequency telemetry streams.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WebGL &amp; Three.js for 3D Cyber-Physical Spatial Computing: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High-performance GPU-accelerated rendering of complex offshore assemblies with real-time gesture interaction.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DGH (Directorate General of Hydrocarbons) Offshore Reporting Guidelines:
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Indian statutory standards for certified daily hydrocarbon reconciliation and environmental auditing.</a:t>
            </a:r>
            <a:endParaRPr lang="en-US" sz="1150" dirty="0"/>
          </a:p>
        </p:txBody>
      </p:sp>
      <p:pic>
        <p:nvPicPr>
          <p:cNvPr id="8" name="Image 0" descr="E:\Digital Twin\public\presentation\subsea_pipes_glowing_arrows_17891497584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91640"/>
            <a:ext cx="4663440" cy="4297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AC4C77-8BCF-BF3B-33B9-1B91301B39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967</Words>
  <Application>Microsoft Office PowerPoint</Application>
  <PresentationFormat>Widescreen</PresentationFormat>
  <Paragraphs>50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Garamond</vt:lpstr>
      <vt:lpstr>Times New Roman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Smart India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 for Well-to-Surface Optimization of Offshore Oil &amp; Gas Operations</dc:title>
  <dc:subject>PptxGenJS Presentation</dc:subject>
  <dc:creator>VARUNA-AI Team</dc:creator>
  <cp:lastModifiedBy>Chandan Karlekar. V</cp:lastModifiedBy>
  <cp:revision>2</cp:revision>
  <dcterms:created xsi:type="dcterms:W3CDTF">2026-09-19T05:24:18Z</dcterms:created>
  <dcterms:modified xsi:type="dcterms:W3CDTF">2026-09-19T05:30:22Z</dcterms:modified>
</cp:coreProperties>
</file>